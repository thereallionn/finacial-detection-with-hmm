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4C3635-84E0-6F92-2348-13864BCBB4E5}" name="IPM - YANDE MUSONDA" initials="YM" userId="S::musondy@zra.org.zm::ef27c12b-46e8-42df-b54e-3f373ee08d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492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BB7C1-5E2F-D4AA-D811-48666212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7B2244-E2EE-40F2-FF6B-9F7029F68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0849D-3DCA-AAA6-41EA-F6F7DB1F9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1340D-9511-417D-3493-D966744FA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29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icons/tren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10561320" y="23317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ZCAS UNIVERSITY  ·  MSC DATA SCIENCE  ·  GROUP 11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3774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Financial Market Regimes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Hidden Markov Models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77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Gaussian HMM decodes Bull, Bear, and Sideways (Transition) regimes from five years of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S&amp;P 500 returns and rolling volatility.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5026970"/>
            <a:ext cx="100584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8" name="Text 5"/>
          <p:cNvSpPr txBox="1"/>
          <p:nvPr/>
        </p:nvSpPr>
        <p:spPr>
          <a:xfrm>
            <a:off x="640080" y="5253341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</a:p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Mardochee Tshiangala (202504163)</a:t>
            </a:r>
          </a:p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 K. Musonda (202502878)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small number of hidden states explain five years</a:t>
            </a:r>
            <a:r>
              <a:rPr lang="en-US" sz="2700" dirty="0"/>
              <a:t> </a:t>
            </a: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S&amp;P 500 behaviour?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420624" cy="420624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ZM"/>
          </a:p>
        </p:txBody>
      </p:sp>
      <p:sp>
        <p:nvSpPr>
          <p:cNvPr id="6" name="Text 3"/>
          <p:cNvSpPr txBox="1"/>
          <p:nvPr/>
        </p:nvSpPr>
        <p:spPr>
          <a:xfrm>
            <a:off x="1143000" y="2459736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S&amp;P 500 as switches between a small number of unobserved market regimes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474720"/>
            <a:ext cx="420624" cy="420624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ZM"/>
          </a:p>
        </p:txBody>
      </p:sp>
      <p:pic>
        <p:nvPicPr>
          <p:cNvPr id="8" name="Image 1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3575670"/>
            <a:ext cx="218724" cy="2187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419856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model only two observable signals per day: the log return and a 10-day rolling volatility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ZM"/>
          </a:p>
        </p:txBody>
      </p:sp>
      <p:pic>
        <p:nvPicPr>
          <p:cNvPr id="11" name="Image 2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4535790"/>
            <a:ext cx="218724" cy="21872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4379976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regimes and how long they persist directly from data — no manual bull/bear labelling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7543800" y="685800"/>
            <a:ext cx="4114800" cy="5257800"/>
          </a:xfrm>
          <a:prstGeom prst="roundRect">
            <a:avLst>
              <a:gd name="adj" fmla="val 1778"/>
            </a:avLst>
          </a:prstGeom>
          <a:solidFill>
            <a:srgbClr val="F5F8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14" name="Text 9"/>
          <p:cNvSpPr txBox="1"/>
          <p:nvPr/>
        </p:nvSpPr>
        <p:spPr>
          <a:xfrm>
            <a:off x="7818120" y="914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OF THE DECODED OUTPUT</a:t>
            </a:r>
            <a:endParaRPr lang="en-US" sz="1050" dirty="0"/>
          </a:p>
        </p:txBody>
      </p:sp>
      <p:pic>
        <p:nvPicPr>
          <p:cNvPr id="15" name="Image 3" descr="/home/claude/regime_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325880"/>
            <a:ext cx="3566160" cy="140817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818120" y="2834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regimes recovered without any manual labels — details in the Results section.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5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2615550"/>
            <a:ext cx="218724" cy="2187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Hidden Markov Model?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ZM"/>
          </a:p>
        </p:txBody>
      </p:sp>
      <p:sp>
        <p:nvSpPr>
          <p:cNvPr id="5" name="Text 3"/>
          <p:cNvSpPr txBox="1"/>
          <p:nvPr/>
        </p:nvSpPr>
        <p:spPr>
          <a:xfrm>
            <a:off x="777240" y="1337254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 persist. An HMM's transition matrix models that explicitly — today's regime depends on yesterday's, unlike k-means or GMM clustering on individual days.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ZM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Viterbi decodes the single most likely PATH through time, not just an independent label per day.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00507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ZM"/>
          </a:p>
        </p:txBody>
      </p:sp>
      <p:sp>
        <p:nvSpPr>
          <p:cNvPr id="9" name="Text 7"/>
          <p:cNvSpPr txBox="1"/>
          <p:nvPr/>
        </p:nvSpPr>
        <p:spPr>
          <a:xfrm>
            <a:off x="777240" y="3691946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ZM" sz="1400" dirty="0"/>
              <a:t>Each regime gets its own 2-D Gaussian over (return, volatility); the calm state supplies the peak and the volatile state the tails</a:t>
            </a:r>
            <a:r>
              <a:rPr lang="en-GB" sz="1400" dirty="0"/>
              <a:t>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777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LAYER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281160" y="1828800"/>
            <a:ext cx="41148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ZM"/>
          </a:p>
        </p:txBody>
      </p:sp>
      <p:sp>
        <p:nvSpPr>
          <p:cNvPr id="12" name="Shape 10"/>
          <p:cNvSpPr/>
          <p:nvPr/>
        </p:nvSpPr>
        <p:spPr>
          <a:xfrm>
            <a:off x="10698480" y="1828800"/>
            <a:ext cx="41148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ZM"/>
          </a:p>
        </p:txBody>
      </p:sp>
      <p:sp>
        <p:nvSpPr>
          <p:cNvPr id="14" name="Shape 12"/>
          <p:cNvSpPr/>
          <p:nvPr/>
        </p:nvSpPr>
        <p:spPr>
          <a:xfrm>
            <a:off x="8275320" y="1325880"/>
            <a:ext cx="1005840" cy="100584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15" name="Text 13"/>
          <p:cNvSpPr txBox="1"/>
          <p:nvPr/>
        </p:nvSpPr>
        <p:spPr>
          <a:xfrm>
            <a:off x="8275320" y="1700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92640" y="1325880"/>
            <a:ext cx="1005840" cy="1005840"/>
          </a:xfrm>
          <a:prstGeom prst="ellipse">
            <a:avLst/>
          </a:prstGeom>
          <a:solidFill>
            <a:srgbClr val="95A5A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18" name="Text 16"/>
          <p:cNvSpPr txBox="1"/>
          <p:nvPr/>
        </p:nvSpPr>
        <p:spPr>
          <a:xfrm>
            <a:off x="9692640" y="1700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(Transition State)</a:t>
            </a:r>
          </a:p>
        </p:txBody>
      </p:sp>
      <p:sp>
        <p:nvSpPr>
          <p:cNvPr id="20" name="Shape 18"/>
          <p:cNvSpPr/>
          <p:nvPr/>
        </p:nvSpPr>
        <p:spPr>
          <a:xfrm>
            <a:off x="11109960" y="1325880"/>
            <a:ext cx="1005840" cy="100584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21" name="Text 19"/>
          <p:cNvSpPr txBox="1"/>
          <p:nvPr/>
        </p:nvSpPr>
        <p:spPr>
          <a:xfrm>
            <a:off x="11109960" y="1700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95560" y="2331720"/>
            <a:ext cx="0" cy="50292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tailEnd type="triangle"/>
          </a:ln>
        </p:spPr>
        <p:txBody>
          <a:bodyPr/>
          <a:lstStyle/>
          <a:p>
            <a:endParaRPr lang="en-ZM"/>
          </a:p>
        </p:txBody>
      </p:sp>
      <p:sp>
        <p:nvSpPr>
          <p:cNvPr id="23" name="Shape 21"/>
          <p:cNvSpPr/>
          <p:nvPr/>
        </p:nvSpPr>
        <p:spPr>
          <a:xfrm>
            <a:off x="8229600" y="283464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F5F8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24" name="Text 22"/>
          <p:cNvSpPr txBox="1"/>
          <p:nvPr/>
        </p:nvSpPr>
        <p:spPr>
          <a:xfrm>
            <a:off x="8366760" y="28986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each day: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 &amp; rolling volatility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DATA MANAGEMENT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Prices to a Model-Ready Matrix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868680" cy="86868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ZM"/>
          </a:p>
        </p:txBody>
      </p:sp>
      <p:pic>
        <p:nvPicPr>
          <p:cNvPr id="5" name="Image 0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" y="212872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" y="28986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82880" y="32278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^GSPC via yfinance,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with metadata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490472" y="2354580"/>
            <a:ext cx="1225296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tailEnd type="triangle"/>
          </a:ln>
        </p:spPr>
        <p:txBody>
          <a:bodyPr/>
          <a:lstStyle/>
          <a:p>
            <a:endParaRPr lang="en-ZM"/>
          </a:p>
        </p:txBody>
      </p:sp>
      <p:sp>
        <p:nvSpPr>
          <p:cNvPr id="9" name="Shape 6"/>
          <p:cNvSpPr/>
          <p:nvPr/>
        </p:nvSpPr>
        <p:spPr>
          <a:xfrm>
            <a:off x="2788920" y="1920240"/>
            <a:ext cx="868680" cy="86868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ZM"/>
          </a:p>
        </p:txBody>
      </p:sp>
      <p:pic>
        <p:nvPicPr>
          <p:cNvPr id="10" name="Image 1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7403" y="212872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468880" y="28986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clean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32278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GB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1,254 in, 1,254, 0 defects found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730752" y="2354580"/>
            <a:ext cx="1225296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tailEnd type="triangle"/>
          </a:ln>
        </p:spPr>
        <p:txBody>
          <a:bodyPr/>
          <a:lstStyle/>
          <a:p>
            <a:endParaRPr lang="en-ZM"/>
          </a:p>
        </p:txBody>
      </p:sp>
      <p:sp>
        <p:nvSpPr>
          <p:cNvPr id="14" name="Shape 10"/>
          <p:cNvSpPr/>
          <p:nvPr/>
        </p:nvSpPr>
        <p:spPr>
          <a:xfrm>
            <a:off x="5029200" y="1920240"/>
            <a:ext cx="868680" cy="86868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ZM"/>
          </a:p>
        </p:txBody>
      </p:sp>
      <p:pic>
        <p:nvPicPr>
          <p:cNvPr id="15" name="Image 2" descr="/home/claude/icons/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7683" y="212872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09160" y="28986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returns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4663440" y="32278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ln(Pₜ / Pₜ₋₁)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971032" y="2354580"/>
            <a:ext cx="1225296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tailEnd type="triangle"/>
          </a:ln>
        </p:spPr>
        <p:txBody>
          <a:bodyPr/>
          <a:lstStyle/>
          <a:p>
            <a:endParaRPr lang="en-ZM"/>
          </a:p>
        </p:txBody>
      </p:sp>
      <p:sp>
        <p:nvSpPr>
          <p:cNvPr id="19" name="Shape 14"/>
          <p:cNvSpPr/>
          <p:nvPr/>
        </p:nvSpPr>
        <p:spPr>
          <a:xfrm>
            <a:off x="7269480" y="1920240"/>
            <a:ext cx="868680" cy="86868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ZM"/>
          </a:p>
        </p:txBody>
      </p:sp>
      <p:pic>
        <p:nvPicPr>
          <p:cNvPr id="20" name="Image 3" descr="/home/claude/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7963" y="2128723"/>
            <a:ext cx="451714" cy="45171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49440" y="28986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volatility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6903720" y="32278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standard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of returns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8211312" y="2354580"/>
            <a:ext cx="1225296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tailEnd type="triangle"/>
          </a:ln>
        </p:spPr>
        <p:txBody>
          <a:bodyPr/>
          <a:lstStyle/>
          <a:p>
            <a:endParaRPr lang="en-ZM"/>
          </a:p>
        </p:txBody>
      </p:sp>
      <p:sp>
        <p:nvSpPr>
          <p:cNvPr id="24" name="Shape 18"/>
          <p:cNvSpPr/>
          <p:nvPr/>
        </p:nvSpPr>
        <p:spPr>
          <a:xfrm>
            <a:off x="9509760" y="1920240"/>
            <a:ext cx="868680" cy="86868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ZM"/>
          </a:p>
        </p:txBody>
      </p:sp>
      <p:pic>
        <p:nvPicPr>
          <p:cNvPr id="25" name="Image 4" descr="/home/claude/icons/diagr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8243" y="2128723"/>
            <a:ext cx="451714" cy="45171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89720" y="28986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matrix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9144000" y="32278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(return, volatility)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trading day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548640" y="47091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5F8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29" name="Text 22"/>
          <p:cNvSpPr txBox="1"/>
          <p:nvPr/>
        </p:nvSpPr>
        <p:spPr>
          <a:xfrm>
            <a:off x="822960" y="4892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1,254</a:t>
            </a:r>
            <a:endParaRPr lang="en-US" sz="3000" dirty="0"/>
          </a:p>
        </p:txBody>
      </p:sp>
      <p:sp>
        <p:nvSpPr>
          <p:cNvPr id="30" name="Text 23"/>
          <p:cNvSpPr txBox="1"/>
          <p:nvPr/>
        </p:nvSpPr>
        <p:spPr>
          <a:xfrm>
            <a:off x="822960" y="5440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trading days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3383280" y="4892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1,244</a:t>
            </a:r>
            <a:endParaRPr lang="en-US" sz="3000" dirty="0"/>
          </a:p>
        </p:txBody>
      </p:sp>
      <p:sp>
        <p:nvSpPr>
          <p:cNvPr id="32" name="Text 25"/>
          <p:cNvSpPr txBox="1"/>
          <p:nvPr/>
        </p:nvSpPr>
        <p:spPr>
          <a:xfrm>
            <a:off x="3383280" y="5440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feature warm-up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5943600" y="4892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yrs</a:t>
            </a:r>
            <a:endParaRPr lang="en-US" sz="3000" dirty="0"/>
          </a:p>
        </p:txBody>
      </p:sp>
      <p:sp>
        <p:nvSpPr>
          <p:cNvPr id="34" name="Text 27"/>
          <p:cNvSpPr txBox="1"/>
          <p:nvPr/>
        </p:nvSpPr>
        <p:spPr>
          <a:xfrm>
            <a:off x="5943600" y="5440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2021 → Sep 2026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8503920" y="4892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36" name="Text 29"/>
          <p:cNvSpPr txBox="1"/>
          <p:nvPr/>
        </p:nvSpPr>
        <p:spPr>
          <a:xfrm>
            <a:off x="8503920" y="5440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return + volatility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A DECISION WORTH DEFENDING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never fill in non-trading days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and holidays are not missing observations — the market is simply closed. Treating them as data would quietly distort the two signals the whole model depends 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FDEEEC"/>
          </a:solidFill>
          <a:ln w="12700">
            <a:solidFill>
              <a:srgbClr val="F6C7C0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Forward-fill weekends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08960"/>
            <a:ext cx="4480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artificial “flat” return days that never happened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deflates rolling volatility — the model reads the market as calmer than it was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Manufactures fake autocorrelation between adjacent “days”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233172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E9F7EF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9" name="Text 7"/>
          <p:cNvSpPr txBox="1"/>
          <p:nvPr/>
        </p:nvSpPr>
        <p:spPr>
          <a:xfrm>
            <a:off x="6309360" y="2606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Drop non-trading days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3108960"/>
            <a:ext cx="4480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 return in the dataset reflects a real trading session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volatility is computed only over genuine market activity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regime the HMM learns is a statement about real trading, not calendar artefacts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returns have fat tails, not a bell curve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629400" cy="3081528"/>
          </a:xfrm>
          <a:prstGeom prst="roundRect">
            <a:avLst>
              <a:gd name="adj" fmla="val 178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pic>
        <p:nvPicPr>
          <p:cNvPr id="5" name="Image 0" descr="/home/claude/hmm_project/HMM-FINANCIAL-MODELING-PROJECT-master/reports/figures/01_retur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355080" cy="2807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0" y="1554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+6.28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kurtosis (0 = normal)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468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≈ 0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Jarque-Bera test rejects normality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3383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— close to symmetric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98080" y="4389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ZM"/>
          </a:p>
        </p:txBody>
      </p:sp>
      <p:sp>
        <p:nvSpPr>
          <p:cNvPr id="13" name="Text 10"/>
          <p:cNvSpPr txBox="1"/>
          <p:nvPr/>
        </p:nvSpPr>
        <p:spPr>
          <a:xfrm>
            <a:off x="7726680" y="45720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Gaussian cannot reproduce these tails. This is the direct motivation for a MIXTURE of regime-conditional Gaussians — the HMM's states — instead of one distribution for all five years.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clusters in time — it isn't noise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62940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pic>
        <p:nvPicPr>
          <p:cNvPr id="5" name="Image 0" descr="/home/claude/hmm_project/HMM-FINANCIAL-MODELING-PROJECT-master/reports/figures/02_volatility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355080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0" y="1554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+0.96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 autocorrelation of volatility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468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15×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/ min volatility ratio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98080" y="3474720"/>
            <a:ext cx="4114800" cy="2834640"/>
          </a:xfrm>
          <a:prstGeom prst="roundRect">
            <a:avLst>
              <a:gd name="adj" fmla="val 1935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ZM"/>
          </a:p>
        </p:txBody>
      </p:sp>
      <p:sp>
        <p:nvSpPr>
          <p:cNvPr id="11" name="Text 8"/>
          <p:cNvSpPr txBox="1"/>
          <p:nvPr/>
        </p:nvSpPr>
        <p:spPr>
          <a:xfrm>
            <a:off x="7726680" y="36576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and turbulent stretches persist for weeks, not single days. That persistence is what a clustering method would miss. This is what the HMM's transition matrix is built to exploit.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and volatility carry different information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629400" cy="3081528"/>
          </a:xfrm>
          <a:prstGeom prst="roundRect">
            <a:avLst>
              <a:gd name="adj" fmla="val 178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pic>
        <p:nvPicPr>
          <p:cNvPr id="5" name="Image 0" descr="/home/claude/hmm_project/HMM-FINANCIAL-MODELING-PROJECT-master/reports/figures/03_return_volatility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355080" cy="2807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0" y="1554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+0.003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corr(signed return, volatility) — sign cancels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468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+0.488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corr(|return|, volatility) — magnitude link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3383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−0.161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corr(return, volatility +10d) — leverage effect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98080" y="4389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ZM"/>
          </a:p>
        </p:txBody>
      </p:sp>
      <p:sp>
        <p:nvSpPr>
          <p:cNvPr id="13" name="Text 10"/>
          <p:cNvSpPr txBox="1"/>
          <p:nvPr/>
        </p:nvSpPr>
        <p:spPr>
          <a:xfrm>
            <a:off x="7726680" y="45720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GB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measures size, not direction.</a:t>
            </a:r>
          </a:p>
          <a:p>
            <a:pPr marL="0" indent="0">
              <a:lnSpc>
                <a:spcPct val="125000"/>
              </a:lnSpc>
              <a:buNone/>
            </a:pPr>
            <a:endParaRPr lang="en-GB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GB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days and down days both raise it, so the sign cancels. Return and volatility each tell us something the other can't.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Fitting the Gaussian HMM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2880360" y="157276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Baum-Welch (EM) for fitting, Viterbi for decoding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67128"/>
            <a:ext cx="740664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2350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n_components = 3  (Bear / Sideways / Bull)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740664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10" name="Text 8"/>
          <p:cNvSpPr txBox="1"/>
          <p:nvPr/>
        </p:nvSpPr>
        <p:spPr>
          <a:xfrm>
            <a:off x="54864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312724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covariance_type = “full” — each regime gets its own return–volatility covariance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740664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RESTARTS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90448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restarts from different seeds; keep the highest training log-likelihood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98848"/>
            <a:ext cx="740664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16" name="Text 14"/>
          <p:cNvSpPr txBox="1"/>
          <p:nvPr/>
        </p:nvSpPr>
        <p:spPr>
          <a:xfrm>
            <a:off x="548640" y="4709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RESTART?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80360" y="46817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only guarantees a LOCAL optimum — a single fit can land on a non-</a:t>
            </a:r>
            <a:r>
              <a:rPr lang="en-US" sz="1250" dirty="0" err="1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opitimum</a:t>
            </a: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solution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276088"/>
            <a:ext cx="740664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19" name="Shape 17"/>
          <p:cNvSpPr/>
          <p:nvPr/>
        </p:nvSpPr>
        <p:spPr>
          <a:xfrm>
            <a:off x="8275320" y="1600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ZM"/>
          </a:p>
        </p:txBody>
      </p:sp>
      <p:sp>
        <p:nvSpPr>
          <p:cNvPr id="20" name="Shape 18"/>
          <p:cNvSpPr/>
          <p:nvPr/>
        </p:nvSpPr>
        <p:spPr>
          <a:xfrm>
            <a:off x="8549640" y="182880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ZM"/>
          </a:p>
        </p:txBody>
      </p:sp>
      <p:pic>
        <p:nvPicPr>
          <p:cNvPr id="21" name="Image 0" descr="/home/claude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341" y="1949501"/>
            <a:ext cx="261518" cy="26151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549640" y="2514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src.model import fit_best_model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GaussianHMM(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n_components=3,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covariance_type="full",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n_iter=1000, tol=1e-4,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random_state=seed,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).fit(train_matrix)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TRAIN split only — the test period never touches the parameters.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Chronological split, not random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split would let the model “see the future” during training. Instead, the first ~4 years train the model; the last ~1 year evaluates it on genuinely unseen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8685844" cy="50292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ZM"/>
          </a:p>
        </p:txBody>
      </p:sp>
      <p:sp>
        <p:nvSpPr>
          <p:cNvPr id="6" name="Shape 4"/>
          <p:cNvSpPr/>
          <p:nvPr/>
        </p:nvSpPr>
        <p:spPr>
          <a:xfrm>
            <a:off x="9234484" y="2331720"/>
            <a:ext cx="2195516" cy="502920"/>
          </a:xfrm>
          <a:prstGeom prst="roundRect">
            <a:avLst>
              <a:gd name="adj" fmla="val 7273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n-ZM"/>
          </a:p>
        </p:txBody>
      </p:sp>
      <p:sp>
        <p:nvSpPr>
          <p:cNvPr id="7" name="Text 5"/>
          <p:cNvSpPr txBox="1"/>
          <p:nvPr/>
        </p:nvSpPr>
        <p:spPr>
          <a:xfrm>
            <a:off x="685800" y="2423160"/>
            <a:ext cx="84115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993 days · Sep 2021 – Aug 2025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325924" y="2423160"/>
            <a:ext cx="2012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250 days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0881360" cy="2606040"/>
          </a:xfrm>
          <a:prstGeom prst="roundRect">
            <a:avLst>
              <a:gd name="adj" fmla="val 2807"/>
            </a:avLst>
          </a:prstGeom>
          <a:solidFill>
            <a:srgbClr val="F5F8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10" name="Text 8"/>
          <p:cNvSpPr txBox="1"/>
          <p:nvPr/>
        </p:nvSpPr>
        <p:spPr>
          <a:xfrm>
            <a:off x="822960" y="3474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CHECK — AVERAGE LOG-LIKELIHOOD PER OBSERVATION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977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+7.51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(log-lik / obs)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3977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+7.81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(log-lik / obs)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977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−0.30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(train − test)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074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negative — the model fits the unseen test year at least as well as training data. No sign of overfitting to the training window's specific regimes.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regimes, decoded across five years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0140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pic>
        <p:nvPicPr>
          <p:cNvPr id="5" name="Image 0" descr="/home/claude/regime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08760"/>
            <a:ext cx="1083564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43484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5F8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7" name="Shape 4"/>
          <p:cNvSpPr/>
          <p:nvPr/>
        </p:nvSpPr>
        <p:spPr>
          <a:xfrm>
            <a:off x="749808" y="46177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ZM"/>
          </a:p>
        </p:txBody>
      </p:sp>
      <p:sp>
        <p:nvSpPr>
          <p:cNvPr id="8" name="Text 5"/>
          <p:cNvSpPr txBox="1"/>
          <p:nvPr/>
        </p:nvSpPr>
        <p:spPr>
          <a:xfrm>
            <a:off x="96012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49377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daily return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2688336" y="4937760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+0.068%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523036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volatility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2688336" y="5230368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0.76%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552297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duration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688336" y="5522976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≈101 days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581558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sample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688336" y="5815584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76.8%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443484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5F8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18" name="Shape 15"/>
          <p:cNvSpPr/>
          <p:nvPr/>
        </p:nvSpPr>
        <p:spPr>
          <a:xfrm>
            <a:off x="4407408" y="4617720"/>
            <a:ext cx="146304" cy="146304"/>
          </a:xfrm>
          <a:prstGeom prst="ellipse">
            <a:avLst/>
          </a:prstGeom>
          <a:solidFill>
            <a:srgbClr val="95A5A6"/>
          </a:solidFill>
          <a:ln/>
        </p:spPr>
        <p:txBody>
          <a:bodyPr/>
          <a:lstStyle/>
          <a:p>
            <a:endParaRPr lang="en-ZM"/>
          </a:p>
        </p:txBody>
      </p:sp>
      <p:sp>
        <p:nvSpPr>
          <p:cNvPr id="19" name="Text 16"/>
          <p:cNvSpPr txBox="1"/>
          <p:nvPr/>
        </p:nvSpPr>
        <p:spPr>
          <a:xfrm>
            <a:off x="461772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407408" y="49377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daily return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345936" y="4937760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−0.026%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407408" y="523036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volatility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345936" y="5230368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1.53%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407408" y="552297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duration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345936" y="5522976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≈33 days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407408" y="581558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sample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345936" y="5815584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22.0%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863840" y="443484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5F8FC"/>
          </a:solidFill>
          <a:ln w="12700">
            <a:solidFill>
              <a:srgbClr val="DCE6F2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29" name="Shape 26"/>
          <p:cNvSpPr/>
          <p:nvPr/>
        </p:nvSpPr>
        <p:spPr>
          <a:xfrm>
            <a:off x="8065008" y="4617720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ZM"/>
          </a:p>
        </p:txBody>
      </p:sp>
      <p:sp>
        <p:nvSpPr>
          <p:cNvPr id="30" name="Text 27"/>
          <p:cNvSpPr txBox="1"/>
          <p:nvPr/>
        </p:nvSpPr>
        <p:spPr>
          <a:xfrm>
            <a:off x="827532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065008" y="49377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daily return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003536" y="4937760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−0.342%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065008" y="523036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volatility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10003536" y="5230368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3.50%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065008" y="552297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duration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10003536" y="5522976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≈13 days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8065008" y="581558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sample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10003536" y="5815584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INTERACTIVE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regimes in Streamlit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337560" y="1417320"/>
            <a:ext cx="83667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587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5" name="Shape 3"/>
          <p:cNvSpPr/>
          <p:nvPr/>
        </p:nvSpPr>
        <p:spPr>
          <a:xfrm>
            <a:off x="3337560" y="1417320"/>
            <a:ext cx="8366760" cy="347472"/>
          </a:xfrm>
          <a:prstGeom prst="roundRect">
            <a:avLst>
              <a:gd name="adj" fmla="val 21053"/>
            </a:avLst>
          </a:prstGeom>
          <a:solidFill>
            <a:srgbClr val="EDF1F6"/>
          </a:solidFill>
          <a:ln/>
        </p:spPr>
        <p:txBody>
          <a:bodyPr/>
          <a:lstStyle/>
          <a:p>
            <a:endParaRPr lang="en-ZM"/>
          </a:p>
        </p:txBody>
      </p:sp>
      <p:sp>
        <p:nvSpPr>
          <p:cNvPr id="6" name="Shape 4"/>
          <p:cNvSpPr/>
          <p:nvPr/>
        </p:nvSpPr>
        <p:spPr>
          <a:xfrm>
            <a:off x="3502152" y="1536192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ZM"/>
          </a:p>
        </p:txBody>
      </p:sp>
      <p:sp>
        <p:nvSpPr>
          <p:cNvPr id="7" name="Shape 5"/>
          <p:cNvSpPr/>
          <p:nvPr/>
        </p:nvSpPr>
        <p:spPr>
          <a:xfrm>
            <a:off x="3721608" y="153619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ZM"/>
          </a:p>
        </p:txBody>
      </p:sp>
      <p:sp>
        <p:nvSpPr>
          <p:cNvPr id="8" name="Shape 6"/>
          <p:cNvSpPr/>
          <p:nvPr/>
        </p:nvSpPr>
        <p:spPr>
          <a:xfrm>
            <a:off x="3941064" y="1536192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ZM"/>
          </a:p>
        </p:txBody>
      </p:sp>
      <p:sp>
        <p:nvSpPr>
          <p:cNvPr id="9" name="Text 7"/>
          <p:cNvSpPr txBox="1"/>
          <p:nvPr/>
        </p:nvSpPr>
        <p:spPr>
          <a:xfrm>
            <a:off x="4434840" y="1472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66160" y="192024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5F8FC"/>
          </a:solidFill>
          <a:ln w="12700">
            <a:solidFill>
              <a:srgbClr val="E4EAF1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11" name="Text 9"/>
          <p:cNvSpPr txBox="1"/>
          <p:nvPr/>
        </p:nvSpPr>
        <p:spPr>
          <a:xfrm>
            <a:off x="3675888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regime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194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192024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5F8FC"/>
          </a:solidFill>
          <a:ln w="12700">
            <a:solidFill>
              <a:srgbClr val="E4EAF1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14" name="Text 12"/>
          <p:cNvSpPr txBox="1"/>
          <p:nvPr/>
        </p:nvSpPr>
        <p:spPr>
          <a:xfrm>
            <a:off x="5687568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687568" y="2194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2026-08-31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192024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5F8FC"/>
          </a:solidFill>
          <a:ln w="12700">
            <a:solidFill>
              <a:srgbClr val="E4EAF1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17" name="Text 15"/>
          <p:cNvSpPr txBox="1"/>
          <p:nvPr/>
        </p:nvSpPr>
        <p:spPr>
          <a:xfrm>
            <a:off x="7699248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(days)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699248" y="2194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0" y="192024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5F8FC"/>
          </a:solidFill>
          <a:ln w="12700">
            <a:solidFill>
              <a:srgbClr val="E4EAF1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20" name="Text 18"/>
          <p:cNvSpPr txBox="1"/>
          <p:nvPr/>
        </p:nvSpPr>
        <p:spPr>
          <a:xfrm>
            <a:off x="9710928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9710928" y="2194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2" name="Image 0" descr="/home/claude/regime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984" y="2743200"/>
            <a:ext cx="7069912" cy="27889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3566160" y="5660136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(not shown): date-range picker, train/test toggle, regime legend, raw-data table.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— LAYOUT PREVIEW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ZM"/>
          </a:p>
        </p:txBody>
      </p:sp>
      <p:pic>
        <p:nvPicPr>
          <p:cNvPr id="26" name="Image 1" descr="/home/claude/icons/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02" y="1965960"/>
            <a:ext cx="190195" cy="19019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019556" y="167335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saved model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48640" y="2898648"/>
            <a:ext cx="365760" cy="36576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ZM"/>
          </a:p>
        </p:txBody>
      </p:sp>
      <p:pic>
        <p:nvPicPr>
          <p:cNvPr id="29" name="Image 2" descr="/home/claude/icons/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" y="2986430"/>
            <a:ext cx="190195" cy="19019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019556" y="2743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Plotly chart, regime-shaded background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3922776"/>
            <a:ext cx="365760" cy="36576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ZM"/>
          </a:p>
        </p:txBody>
      </p:sp>
      <p:pic>
        <p:nvPicPr>
          <p:cNvPr id="32" name="Image 3" descr="/home/claude/icons/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" y="4010558"/>
            <a:ext cx="190195" cy="19019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051560" y="37719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date-range filter + train/test split toggle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548640" y="4946904"/>
            <a:ext cx="365760" cy="365760"/>
          </a:xfrm>
          <a:prstGeom prst="ellipse">
            <a:avLst/>
          </a:prstGeom>
          <a:noFill/>
          <a:ln/>
        </p:spPr>
        <p:txBody>
          <a:bodyPr/>
          <a:lstStyle/>
          <a:p>
            <a:endParaRPr lang="en-ZM"/>
          </a:p>
        </p:txBody>
      </p:sp>
      <p:pic>
        <p:nvPicPr>
          <p:cNvPr id="35" name="Image 4" descr="/home/claude/icons/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" y="5034686"/>
            <a:ext cx="190195" cy="19019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19556" y="4741163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regime statistics table (return, volatility, duration)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ZM"/>
          </a:p>
        </p:txBody>
      </p:sp>
      <p:pic>
        <p:nvPicPr>
          <p:cNvPr id="5" name="Image 0" descr="/home/claude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642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6276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emissions can't capture skew within a regime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count fixed at 3, not selected via a BIC/AIC search over k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sorted post-hoc by mean return — still worth a manual sanity check each run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years contains very few true bear markets: Bear is only ≈1% of decoded days, a heavily imbalanced class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ZM"/>
          </a:p>
        </p:txBody>
      </p:sp>
      <p:pic>
        <p:nvPicPr>
          <p:cNvPr id="9" name="Image 1" descr="/home/claude/icons/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6642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03720" y="16276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309360" y="219456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3 vs. 4+ states, or a Student-t emission HMM for heavier tails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GB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decoded regimes against evidence the model never saw: VIX levels, peak-to-trough drawdown depth, and published bear-market dates</a:t>
            </a:r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a simple regime-conditioned trading rule as an economic sanity check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learned regimes recover recognizable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S&amp;P 500 history — with no manual labelling.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76.8%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22.0%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switches, 5 yrs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0149840" cy="0"/>
          </a:xfrm>
          <a:prstGeom prst="line">
            <a:avLst/>
          </a:prstGeom>
          <a:noFill/>
          <a:ln w="1905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ZM"/>
          </a:p>
        </p:txBody>
      </p:sp>
      <p:sp>
        <p:nvSpPr>
          <p:cNvPr id="14" name="Text 12"/>
          <p:cNvSpPr txBox="1"/>
          <p:nvPr/>
        </p:nvSpPr>
        <p:spPr>
          <a:xfrm>
            <a:off x="548640" y="43434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HMM · hmmlearn · Baum-Welch + Viterbi · chronological evaluation · Streamlit dashboard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12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   ·   Mardochee   ·   Group 11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E02C7-7282-F05C-C2DB-59B907E3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3">
            <a:extLst>
              <a:ext uri="{FF2B5EF4-FFF2-40B4-BE49-F238E27FC236}">
                <a16:creationId xmlns:a16="http://schemas.microsoft.com/office/drawing/2014/main" id="{9CDEB84F-CE23-EB19-DFD1-3BF689D4CBE6}"/>
              </a:ext>
            </a:extLst>
          </p:cNvPr>
          <p:cNvSpPr txBox="1"/>
          <p:nvPr/>
        </p:nvSpPr>
        <p:spPr>
          <a:xfrm>
            <a:off x="5205017" y="2788920"/>
            <a:ext cx="178196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chemeClr val="bg1"/>
                </a:solidFill>
              </a:rPr>
              <a:t>Demos</a:t>
            </a:r>
          </a:p>
        </p:txBody>
      </p:sp>
    </p:spTree>
    <p:extLst>
      <p:ext uri="{BB962C8B-B14F-4D97-AF65-F5344CB8AC3E}">
        <p14:creationId xmlns:p14="http://schemas.microsoft.com/office/powerpoint/2010/main" val="1851045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1432</TotalTime>
  <Words>1273</Words>
  <Application>Microsoft Office PowerPoint</Application>
  <PresentationFormat>Widescreen</PresentationFormat>
  <Paragraphs>223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IPM - YANDE MUSONDA</cp:lastModifiedBy>
  <cp:revision>13</cp:revision>
  <dcterms:created xsi:type="dcterms:W3CDTF">2026-09-11T06:28:04Z</dcterms:created>
  <dcterms:modified xsi:type="dcterms:W3CDTF">2026-09-15T15:17:15Z</dcterms:modified>
</cp:coreProperties>
</file>